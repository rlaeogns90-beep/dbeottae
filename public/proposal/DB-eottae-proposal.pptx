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DB어때가 무엇을 파는지(신차 장기렌트 단독 DB, 건당 40,000원)와 핵심 약속 세 가지를 한눈에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Desktop-dbeottae\0a6e2e42-47b2-4441-beac-5d132dac83a0\scratchpad\deck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2623" y="402336"/>
            <a:ext cx="1261872" cy="21945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DB어때 광고주 제안서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전화 없는 DB, DB어때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영업사원을 위한 자동차 단독 DB 오픈 마켓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마케팅을다루다 · 디비어때.com · 1600-7628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6812280" cy="4078224"/>
          </a:xfrm>
          <a:prstGeom prst="roundRect">
            <a:avLst>
              <a:gd name="adj" fmla="val 5830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pic>
        <p:nvPicPr>
          <p:cNvPr id="7" name="Image 0" descr="C:\Users\user\AppData\Local\Temp\claude\C--Users-user-Desktop-dbeottae\0a6e2e42-47b2-4441-beac-5d132dac83a0\scratchpad\deck\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85416"/>
            <a:ext cx="6812280" cy="40782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688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F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신차 장기렌트 단독 실시간 DB 1건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9981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40,000원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5993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VAT 별도 · 패키지 없음 · 받은 만큼만 차감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5248656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52486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단독 배정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26080" y="5248656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26080" y="52486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 100% 환급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92040" y="5248656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52486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전달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543800" y="2185416"/>
            <a:ext cx="4190695" cy="1237488"/>
          </a:xfrm>
          <a:prstGeom prst="roundRect">
            <a:avLst>
              <a:gd name="adj" fmla="val 118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18120" y="2529840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267797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549640" y="2350008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1명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8549640" y="2916936"/>
            <a:ext cx="3001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신청 건을 받는 광고주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543800" y="3605784"/>
            <a:ext cx="4190695" cy="1237488"/>
          </a:xfrm>
          <a:prstGeom prst="roundRect">
            <a:avLst>
              <a:gd name="adj" fmla="val 118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818120" y="3950208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53" y="4098341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549640" y="3770376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10곳</a:t>
            </a:r>
            <a:endParaRPr lang="en-US" sz="3200" dirty="0"/>
          </a:p>
        </p:txBody>
      </p:sp>
      <p:sp>
        <p:nvSpPr>
          <p:cNvPr id="26" name="Text 21"/>
          <p:cNvSpPr txBox="1"/>
          <p:nvPr/>
        </p:nvSpPr>
        <p:spPr>
          <a:xfrm>
            <a:off x="8549640" y="4337304"/>
            <a:ext cx="3001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운영하는 업종별 브랜드 사이트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7543800" y="5026152"/>
            <a:ext cx="4190695" cy="1237488"/>
          </a:xfrm>
          <a:prstGeom prst="roundRect">
            <a:avLst>
              <a:gd name="adj" fmla="val 118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818120" y="5370576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253" y="5518709"/>
            <a:ext cx="252374" cy="25237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549640" y="5190744"/>
            <a:ext cx="3001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3200" dirty="0"/>
          </a:p>
        </p:txBody>
      </p:sp>
      <p:sp>
        <p:nvSpPr>
          <p:cNvPr id="31" name="Text 25"/>
          <p:cNvSpPr txBox="1"/>
          <p:nvPr/>
        </p:nvSpPr>
        <p:spPr>
          <a:xfrm>
            <a:off x="8549640" y="5757672"/>
            <a:ext cx="3001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 환급 · 기간 제한 없음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영업 현장의 고민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DB의 질은 '몇 명이 전화하느냐'에서 갈립니다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영업사원이 DB를 살 때 반복해서 겪는 네 가지 문제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3566160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9736"/>
            <a:ext cx="512064" cy="512064"/>
          </a:xfrm>
          <a:prstGeom prst="ellipse">
            <a:avLst/>
          </a:prstGeom>
          <a:solidFill>
            <a:srgbClr val="FDE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2597993"/>
            <a:ext cx="235549" cy="2355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"벌써 세 군데서 연락 왔어요"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83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DB가 여러 업체에 동시에 팔려, 첫 통화부터 가격 경쟁이 시작됩니다.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2185416"/>
            <a:ext cx="3566160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459736"/>
            <a:ext cx="512064" cy="512064"/>
          </a:xfrm>
          <a:prstGeom prst="ellipse">
            <a:avLst/>
          </a:prstGeom>
          <a:solidFill>
            <a:srgbClr val="FDE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817" y="2597993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8056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비공개, 패키지 선결제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80560" y="3483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단가를 미리 알 수 없고, 써 보기도 전에 큰 금액을 먼저 결제해야 합니다.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315968"/>
            <a:ext cx="3566160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590288"/>
            <a:ext cx="512064" cy="512064"/>
          </a:xfrm>
          <a:prstGeom prst="ellipse">
            <a:avLst/>
          </a:prstGeom>
          <a:solidFill>
            <a:srgbClr val="FDE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" y="4728545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1520" y="5230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바쁜 날에도 물량은 그대로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56144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물량이 계속 들어와, 다 소화하지 못한 DB가 그대로 버려집니다.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206240" y="4315968"/>
            <a:ext cx="3566160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480560" y="4590288"/>
            <a:ext cx="512064" cy="512064"/>
          </a:xfrm>
          <a:prstGeom prst="ellipse">
            <a:avLst/>
          </a:prstGeom>
          <a:solidFill>
            <a:srgbClr val="FDECF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817" y="4728545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480560" y="5230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결번이 섞여도 기준은 제각각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480560" y="561441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 조건이 업체마다 다르고, 기한이 지나면 돌려받지 못합니다.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046720" y="2185416"/>
            <a:ext cx="3687775" cy="4078224"/>
          </a:xfrm>
          <a:prstGeom prst="roundRect">
            <a:avLst>
              <a:gd name="adj" fmla="val 3967"/>
            </a:avLst>
          </a:prstGeom>
          <a:solidFill>
            <a:srgbClr val="F2F3F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366760" y="2505456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What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366760" y="2871216"/>
            <a:ext cx="3047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DB의 개수가 아니라, 같은 고객에게 붙는 경쟁자의 수입니다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366760" y="4197096"/>
            <a:ext cx="3047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전화가 많을수록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가격만 비교하고,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영업사원은 상담 주도권을 잃습니다.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8366760" y="5294376"/>
            <a:ext cx="3047695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503920" y="5294376"/>
            <a:ext cx="2773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DB어때는 한 신청 건을 한 명에게만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DB어때 소개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신청하는 순간, 단 한 명의 광고주에게만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업종별 상담 고객과 광고주를 1:1로 잇는 DB 플랫폼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231136"/>
            <a:ext cx="301752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82496" y="2432304"/>
            <a:ext cx="566928" cy="566928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567" y="2585375"/>
            <a:ext cx="260787" cy="26078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상담 신청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1880" y="3031236"/>
            <a:ext cx="838048" cy="0"/>
          </a:xfrm>
          <a:prstGeom prst="line">
            <a:avLst/>
          </a:prstGeom>
          <a:noFill/>
          <a:ln w="2222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87088" y="2231136"/>
            <a:ext cx="301752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12384" y="2432304"/>
            <a:ext cx="566928" cy="566928"/>
          </a:xfrm>
          <a:prstGeom prst="ellipse">
            <a:avLst/>
          </a:prstGeom>
          <a:solidFill>
            <a:srgbClr val="1456F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454" y="2585375"/>
            <a:ext cx="260787" cy="26078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87088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DB어때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87088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· 순번 배정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741768" y="3031236"/>
            <a:ext cx="838048" cy="0"/>
          </a:xfrm>
          <a:prstGeom prst="line">
            <a:avLst/>
          </a:prstGeom>
          <a:noFill/>
          <a:ln w="2222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716975" y="2231136"/>
            <a:ext cx="3017520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942271" y="2432304"/>
            <a:ext cx="566928" cy="566928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342" y="2585375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16975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광고주 1명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716975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단독으로 받음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105656"/>
            <a:ext cx="3017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85800" y="4288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사이트에서 직접 신청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" y="46085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DB어때가 운영하는 업종별 브랜드 사이트 10곳에서 고객이 차종·연락처를 남기고 개인정보 제공에 동의합니다.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587088" y="4105656"/>
            <a:ext cx="3017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815688" y="4288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번호 확인 후 순번 배정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4815688" y="46085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번호를 이미 받은 광고주는 빼고, 수신을 켜 둔 광고주에게 차례대로 배정합니다.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716975" y="4105656"/>
            <a:ext cx="3017520" cy="1325880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945575" y="4288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명에게만 단독 전달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8945575" y="46085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이름·연락처·차종이 한 광고주에게만 전달됩니다. 같은 고객이 다른 광고주에게 가지 않습니다.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57200" y="5614416"/>
            <a:ext cx="11277295" cy="649224"/>
          </a:xfrm>
          <a:prstGeom prst="roundRect">
            <a:avLst>
              <a:gd name="adj" fmla="val 18310"/>
            </a:avLst>
          </a:prstGeom>
          <a:solidFill>
            <a:srgbClr val="F2F3F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731520" y="5614416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What 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DB는 한 분에게만 전달되는 단독 DB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구매 의사가 분명한, 직접 신청한 고객만 연결합니다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핵심 약속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DB어때의 네 가지 약속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광고주가 DB를 살 때 가장 불안한 네 지점을 약속으로 바꿨습니다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2682164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9736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607869"/>
            <a:ext cx="252374" cy="2523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172968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확실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02736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운영하는 브랜드 사이트에서 고객이 직접 신청하고 동의한 DB만 공급합니다.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928616"/>
            <a:ext cx="2682164" cy="1335024"/>
          </a:xfrm>
          <a:prstGeom prst="roundRect">
            <a:avLst>
              <a:gd name="adj" fmla="val 8904"/>
            </a:avLst>
          </a:prstGeom>
          <a:solidFill>
            <a:srgbClr val="EEF4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5129784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10곳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84301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운영 브랜드 사이트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22244" y="2185416"/>
            <a:ext cx="2682164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96564" y="2459736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697" y="2607869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96564" y="3172968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단독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596564" y="3602736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신청 건은 한 명에게만. 같은 번호는 이미 받은 분에게 다시 보내지 않습니다.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322244" y="4928616"/>
            <a:ext cx="2682164" cy="1335024"/>
          </a:xfrm>
          <a:prstGeom prst="roundRect">
            <a:avLst>
              <a:gd name="adj" fmla="val 8904"/>
            </a:avLst>
          </a:prstGeom>
          <a:solidFill>
            <a:srgbClr val="EEF4F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596564" y="5129784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1명</a:t>
            </a:r>
            <a:endParaRPr lang="en-US" sz="3600" dirty="0"/>
          </a:p>
        </p:txBody>
      </p:sp>
      <p:sp>
        <p:nvSpPr>
          <p:cNvPr id="21" name="Text 17"/>
          <p:cNvSpPr txBox="1"/>
          <p:nvPr/>
        </p:nvSpPr>
        <p:spPr>
          <a:xfrm>
            <a:off x="3596564" y="584301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건당 받는 광고주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87288" y="2185416"/>
            <a:ext cx="2682164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61608" y="2459736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740" y="2607869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61608" y="3172968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결제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461608" y="3602736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패키지 없이 받은 만큼만 예치금에서 차감. 가격은 처음부터 공개합니다.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187288" y="4928616"/>
            <a:ext cx="2682164" cy="1335024"/>
          </a:xfrm>
          <a:prstGeom prst="roundRect">
            <a:avLst>
              <a:gd name="adj" fmla="val 8904"/>
            </a:avLst>
          </a:prstGeom>
          <a:solidFill>
            <a:srgbClr val="EEF4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461608" y="5129784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1건</a:t>
            </a:r>
            <a:endParaRPr lang="en-US" sz="3600" dirty="0"/>
          </a:p>
        </p:txBody>
      </p:sp>
      <p:sp>
        <p:nvSpPr>
          <p:cNvPr id="29" name="Text 24"/>
          <p:cNvSpPr txBox="1"/>
          <p:nvPr/>
        </p:nvSpPr>
        <p:spPr>
          <a:xfrm>
            <a:off x="6461608" y="584301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단위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9052331" y="2185416"/>
            <a:ext cx="2682164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26651" y="2459736"/>
            <a:ext cx="548640" cy="548640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784" y="2607869"/>
            <a:ext cx="252374" cy="25237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326651" y="3172968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 100% 환급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9326651" y="3602736"/>
            <a:ext cx="21335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시점과 상관없이 결번이면 DB 금액 전액을 예치금으로 돌려드립니다.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052331" y="4928616"/>
            <a:ext cx="2682164" cy="1335024"/>
          </a:xfrm>
          <a:prstGeom prst="roundRect">
            <a:avLst>
              <a:gd name="adj" fmla="val 8904"/>
            </a:avLst>
          </a:prstGeom>
          <a:solidFill>
            <a:srgbClr val="EEF4FF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9326651" y="5129784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3600" dirty="0"/>
          </a:p>
        </p:txBody>
      </p:sp>
      <p:sp>
        <p:nvSpPr>
          <p:cNvPr id="37" name="Text 31"/>
          <p:cNvSpPr txBox="1"/>
          <p:nvPr/>
        </p:nvSpPr>
        <p:spPr>
          <a:xfrm>
            <a:off x="9326651" y="584301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 환급 · 기한 없음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비교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흔한 CPA 플랫폼과 무엇이 다른가요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DB 구매라도 받는 사람·가격·조절·환급 방식이 다릅니다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85416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9679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흔한 CPA 플랫폼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DB어때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받는 사람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15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업체에 동시 판매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4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명에게만 단독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15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상담해야 알려줌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4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건당 40,000원 공개 (VAT 별도)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구매 단위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15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 건 패키지 선결제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4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1건씩 예치금에서 차감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수신 조절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15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정해진 물량을 그대로 받음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4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원할 때 직접 수신 ON/OFF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15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모아서 일괄 전달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4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1:1 전달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 처리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15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업체마다 다르고 기한 제한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4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결번이면 기간 상관없이 100% 환급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8288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77840"/>
            <a:ext cx="11277295" cy="685800"/>
          </a:xfrm>
          <a:prstGeom prst="roundRect">
            <a:avLst>
              <a:gd name="adj" fmla="val 17333"/>
            </a:avLst>
          </a:prstGeom>
          <a:solidFill>
            <a:srgbClr val="F2F3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57784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What 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가격을 숨기지 않고, 받는 사람을 늘리지 않고,</a:t>
            </a:r>
            <a:pPr indent="0" marL="0">
              <a:buNone/>
            </a:pPr>
            <a:r>
              <a:rPr lang="en-US" sz="13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받을지 말지는 광고주가 직접 정합니다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배정 방식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한 건이 도착하기까지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신청부터 광고주 휴대폰까지, 사람 손을 거치지 않고 자동으로 처리됩니다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9736"/>
            <a:ext cx="384048" cy="384048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85416" y="241401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3673" y="2552273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3099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직접 신청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51129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사이트에서 직접 신청하고 개인정보 제공에 동의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17520" y="3351276"/>
            <a:ext cx="314858" cy="0"/>
          </a:xfrm>
          <a:prstGeom prst="line">
            <a:avLst/>
          </a:prstGeom>
          <a:noFill/>
          <a:ln w="2222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78098" y="2185416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2418" y="2459736"/>
            <a:ext cx="384048" cy="384048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5241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106314" y="241401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572" y="2552273"/>
            <a:ext cx="235549" cy="23554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52418" y="3099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번호 확인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652418" y="351129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번호를 이미 받은 광고주는 배정 대상에서 제외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38418" y="3351276"/>
            <a:ext cx="314858" cy="0"/>
          </a:xfrm>
          <a:prstGeom prst="line">
            <a:avLst/>
          </a:prstGeom>
          <a:noFill/>
          <a:ln w="2222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298997" y="2185416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73317" y="2459736"/>
            <a:ext cx="384048" cy="384048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573317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027213" y="241401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470" y="2552273"/>
            <a:ext cx="235549" cy="23554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73317" y="3099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순번대로 배정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6573317" y="351129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수신을 켜 둔 광고주에게 차례대로, 1인 하루 최대 3건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859317" y="3351276"/>
            <a:ext cx="314858" cy="0"/>
          </a:xfrm>
          <a:prstGeom prst="line">
            <a:avLst/>
          </a:prstGeom>
          <a:noFill/>
          <a:ln w="22225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219895" y="2185416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494215" y="2459736"/>
            <a:ext cx="384048" cy="384048"/>
          </a:xfrm>
          <a:prstGeom prst="ellipse">
            <a:avLst/>
          </a:prstGeom>
          <a:solidFill>
            <a:srgbClr val="1456F0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494215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10948111" y="241401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6368" y="2552273"/>
            <a:ext cx="235549" cy="235549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494215" y="309981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도착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9494215" y="3511296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휴대폰으로 받고 버튼 하나로 바로 전화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57200" y="4745736"/>
            <a:ext cx="3637178" cy="1517904"/>
          </a:xfrm>
          <a:prstGeom prst="roundRect">
            <a:avLst>
              <a:gd name="adj" fmla="val 7831"/>
            </a:avLst>
          </a:prstGeom>
          <a:solidFill>
            <a:srgbClr val="EEF4FF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77240" y="4974336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3건</a:t>
            </a:r>
            <a:endParaRPr lang="en-US" sz="3600" dirty="0"/>
          </a:p>
        </p:txBody>
      </p:sp>
      <p:sp>
        <p:nvSpPr>
          <p:cNvPr id="39" name="Text 33"/>
          <p:cNvSpPr txBox="1"/>
          <p:nvPr/>
        </p:nvSpPr>
        <p:spPr>
          <a:xfrm>
            <a:off x="777240" y="5705856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광고주 1명당 배정 상한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4277258" y="4745736"/>
            <a:ext cx="3637178" cy="1517904"/>
          </a:xfrm>
          <a:prstGeom prst="roundRect">
            <a:avLst>
              <a:gd name="adj" fmla="val 7831"/>
            </a:avLst>
          </a:prstGeom>
          <a:solidFill>
            <a:srgbClr val="EEF4FF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4597298" y="4974336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0회</a:t>
            </a:r>
            <a:endParaRPr lang="en-US" sz="3600" dirty="0"/>
          </a:p>
        </p:txBody>
      </p:sp>
      <p:sp>
        <p:nvSpPr>
          <p:cNvPr id="42" name="Text 36"/>
          <p:cNvSpPr txBox="1"/>
          <p:nvPr/>
        </p:nvSpPr>
        <p:spPr>
          <a:xfrm>
            <a:off x="4597298" y="5705856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번호 재배정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8097317" y="4745736"/>
            <a:ext cx="3637178" cy="1517904"/>
          </a:xfrm>
          <a:prstGeom prst="roundRect">
            <a:avLst>
              <a:gd name="adj" fmla="val 7831"/>
            </a:avLst>
          </a:prstGeom>
          <a:solidFill>
            <a:srgbClr val="EEF4FF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8417357" y="4974336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</a:t>
            </a:r>
            <a:endParaRPr lang="en-US" sz="3600" dirty="0"/>
          </a:p>
        </p:txBody>
      </p:sp>
      <p:sp>
        <p:nvSpPr>
          <p:cNvPr id="45" name="Text 39"/>
          <p:cNvSpPr txBox="1"/>
          <p:nvPr/>
        </p:nvSpPr>
        <p:spPr>
          <a:xfrm>
            <a:off x="8417357" y="5705856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 OFF 후 다시 켤 수 있는 시간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DB 정보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받는 DB에는 이런 정보가 담깁니다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상담에 필요한 정보만, 바로 전화할 수 있게 전달합니다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예시는 실제 광고주 관리 화면을 바탕으로 한 예시 데이터입니다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2185416"/>
            <a:ext cx="3200400" cy="4078224"/>
          </a:xfrm>
          <a:prstGeom prst="roundRect">
            <a:avLst>
              <a:gd name="adj" fmla="val 11429"/>
            </a:avLst>
          </a:prstGeom>
          <a:solidFill>
            <a:srgbClr val="181E25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3856" y="2313432"/>
            <a:ext cx="2944368" cy="3822192"/>
          </a:xfrm>
          <a:prstGeom prst="roundRect">
            <a:avLst>
              <a:gd name="adj" fmla="val 9317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62456" y="2587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홍길동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62456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 그랜저 · 48개월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62456" y="3319272"/>
            <a:ext cx="2487168" cy="411480"/>
          </a:xfrm>
          <a:prstGeom prst="roundRect">
            <a:avLst>
              <a:gd name="adj" fmla="val 22222"/>
            </a:avLst>
          </a:prstGeom>
          <a:solidFill>
            <a:srgbClr val="2659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62456" y="33192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 걸기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62456" y="3913632"/>
            <a:ext cx="24871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2456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3986784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010-1234-5678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62456" y="4297680"/>
            <a:ext cx="24871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62456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차종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322576" y="4370832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 그랜저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62456" y="4681728"/>
            <a:ext cx="24871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62456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메모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22576" y="47548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48개월 무보증 희망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62456" y="5065776"/>
            <a:ext cx="24871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62456" y="5138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 시각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322576" y="513892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10.26 14:05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62456" y="5449824"/>
            <a:ext cx="24871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62456" y="5522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브랜드명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22576" y="5522976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장기렌트 특가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2185416"/>
            <a:ext cx="6796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광고주에게 전달되는 항목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937760" y="2688336"/>
            <a:ext cx="6796735" cy="568757"/>
          </a:xfrm>
          <a:prstGeom prst="roundRect">
            <a:avLst>
              <a:gd name="adj" fmla="val 20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2762402"/>
            <a:ext cx="420624" cy="42062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4208" y="2875971"/>
            <a:ext cx="193487" cy="193487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715000" y="2688336"/>
            <a:ext cx="2011680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연락처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2688336"/>
            <a:ext cx="3870655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직접 입력한 정보 그대로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937760" y="3439973"/>
            <a:ext cx="6796735" cy="568757"/>
          </a:xfrm>
          <a:prstGeom prst="roundRect">
            <a:avLst>
              <a:gd name="adj" fmla="val 20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120640" y="3514039"/>
            <a:ext cx="420624" cy="42062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208" y="3627608"/>
            <a:ext cx="193487" cy="193487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5715000" y="3439973"/>
            <a:ext cx="2011680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차종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680960" y="3439973"/>
            <a:ext cx="3870655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현대 그랜저, 기아 쏘렌토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937760" y="4191610"/>
            <a:ext cx="6796735" cy="568757"/>
          </a:xfrm>
          <a:prstGeom prst="roundRect">
            <a:avLst>
              <a:gd name="adj" fmla="val 20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5120640" y="4265676"/>
            <a:ext cx="420624" cy="42062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208" y="4379244"/>
            <a:ext cx="193487" cy="193487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715000" y="4191610"/>
            <a:ext cx="2011680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메모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7680960" y="4191610"/>
            <a:ext cx="3870655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48개월 무보증 희망, 법인 명의 문의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4937760" y="4943246"/>
            <a:ext cx="6796735" cy="568757"/>
          </a:xfrm>
          <a:prstGeom prst="roundRect">
            <a:avLst>
              <a:gd name="adj" fmla="val 20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120640" y="5017313"/>
            <a:ext cx="420624" cy="42062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208" y="5130881"/>
            <a:ext cx="193487" cy="193487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5715000" y="4943246"/>
            <a:ext cx="2011680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브랜드명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7680960" y="4943246"/>
            <a:ext cx="3870655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신청한 브랜드 사이트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4937760" y="5694883"/>
            <a:ext cx="6796735" cy="568757"/>
          </a:xfrm>
          <a:prstGeom prst="roundRect">
            <a:avLst>
              <a:gd name="adj" fmla="val 20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5120640" y="5768950"/>
            <a:ext cx="420624" cy="42062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208" y="5882518"/>
            <a:ext cx="193487" cy="193487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5715000" y="5694883"/>
            <a:ext cx="2011680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 시각</a:t>
            </a:r>
            <a:endParaRPr lang="en-US" sz="1400" dirty="0"/>
          </a:p>
        </p:txBody>
      </p:sp>
      <p:sp>
        <p:nvSpPr>
          <p:cNvPr id="52" name="Text 45"/>
          <p:cNvSpPr txBox="1"/>
          <p:nvPr/>
        </p:nvSpPr>
        <p:spPr>
          <a:xfrm>
            <a:off x="7680960" y="5694883"/>
            <a:ext cx="3870655" cy="568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DB가 배정된 시각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가격과 이용 조건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40,000원, 받은 만큼만 차감합니다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패키지 없이 예치금을 충전하고, DB를 받을 때마다 1건씩 차감됩니다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2682164" cy="1828800"/>
          </a:xfrm>
          <a:prstGeom prst="roundRect">
            <a:avLst>
              <a:gd name="adj" fmla="val 11000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pic>
        <p:nvPicPr>
          <p:cNvPr id="7" name="Image 0" descr="C:\Users\user\AppData\Local\Temp\claude\C--Users-user-Desktop-dbeottae\0a6e2e42-47b2-4441-beac-5d132dac83a0\scratchpad\deck\g_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85416"/>
            <a:ext cx="2682164" cy="1828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459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신차 장기렌트 DB 1건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0720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40,000원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38728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VAT 별도 · 예치금 44,000원 차감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22244" y="2185416"/>
            <a:ext cx="268216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96564" y="2459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충전 금액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96564" y="280720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440,000원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3596564" y="3538728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10건분 · 무통장 입금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87288" y="2185416"/>
            <a:ext cx="268216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61608" y="2459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최대 수신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280720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461608" y="3538728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넘는 DB는 다른 광고주에게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331" y="2185416"/>
            <a:ext cx="2682164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326651" y="2459736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 OFF 후 재개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326651" y="2807208"/>
            <a:ext cx="2133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56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</a:t>
            </a:r>
            <a:endParaRPr lang="en-US" sz="3200" dirty="0"/>
          </a:p>
        </p:txBody>
      </p:sp>
      <p:sp>
        <p:nvSpPr>
          <p:cNvPr id="22" name="Text 19"/>
          <p:cNvSpPr txBox="1"/>
          <p:nvPr/>
        </p:nvSpPr>
        <p:spPr>
          <a:xfrm>
            <a:off x="9326651" y="3538728"/>
            <a:ext cx="2133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끈 경우에만 적용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343400"/>
            <a:ext cx="5547208" cy="877824"/>
          </a:xfrm>
          <a:prstGeom prst="roundRect">
            <a:avLst>
              <a:gd name="adj" fmla="val 135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343400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차감 방식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057400" y="4343400"/>
            <a:ext cx="3718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DB를 받을 때마다 1건 금액이 예치금에서 차감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87288" y="4343400"/>
            <a:ext cx="5547208" cy="877824"/>
          </a:xfrm>
          <a:prstGeom prst="roundRect">
            <a:avLst>
              <a:gd name="adj" fmla="val 135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61608" y="4343400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OFF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787488" y="4343400"/>
            <a:ext cx="3718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예치금이 1건 금액보다 적으면 수신이 자동으로 꺼짐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5330952"/>
            <a:ext cx="5547208" cy="877824"/>
          </a:xfrm>
          <a:prstGeom prst="roundRect">
            <a:avLst>
              <a:gd name="adj" fmla="val 135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330952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증빙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057400" y="5330952"/>
            <a:ext cx="3718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세금계산서 또는 현금영수증(휴대전화번호)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87288" y="5330952"/>
            <a:ext cx="5547208" cy="877824"/>
          </a:xfrm>
          <a:prstGeom prst="roundRect">
            <a:avLst>
              <a:gd name="adj" fmla="val 135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61608" y="5330952"/>
            <a:ext cx="1280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787488" y="5330952"/>
            <a:ext cx="3718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예치금 환불 불가 · 결번은 예치금으로 100% 환급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결번 환급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결번이면 기간 상관없이 100% 환급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시점과 관계없이, 결번이 확인되면 DB 금액 전액을 예치금으로 돌려드립니다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DB어때 운영 정책·이용약관 (2026.10 기준)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3931920" cy="4078224"/>
          </a:xfrm>
          <a:prstGeom prst="roundRect">
            <a:avLst>
              <a:gd name="adj" fmla="val 6047"/>
            </a:avLst>
          </a:prstGeom>
          <a:solidFill>
            <a:srgbClr val="1456F0"/>
          </a:solidFill>
          <a:ln/>
          <a:effectLst>
            <a:outerShdw sx="100000" sy="100000" kx="0" ky="0" algn="bl" rotWithShape="0" blurRad="190500" dist="50800" dir="5400000">
              <a:srgbClr val="2C1E74">
                <a:alpha val="16000"/>
              </a:srgbClr>
            </a:outerShdw>
          </a:effectLst>
        </p:spPr>
      </p:sp>
      <p:pic>
        <p:nvPicPr>
          <p:cNvPr id="7" name="Image 0" descr="C:\Users\user\AppData\Local\Temp\claude\C--Users-user-Desktop-dbeottae\0a6e2e42-47b2-4441-beac-5d132dac83a0\scratchpad\deck\g_ref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85416"/>
            <a:ext cx="3931920" cy="40782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6426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F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 DB 환급률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5409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97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44,000원 전액을 예치금으로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기한 없음 · 통화 녹음 불필요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185416"/>
            <a:ext cx="223509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9472" y="2441448"/>
            <a:ext cx="475488" cy="475488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54" y="256983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19472" y="3026664"/>
            <a:ext cx="1723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신청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919472" y="3355848"/>
            <a:ext cx="1723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상세 화면에서 신청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081418" y="2185416"/>
            <a:ext cx="223509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37450" y="2441448"/>
            <a:ext cx="475488" cy="475488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832" y="2569830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337450" y="3026664"/>
            <a:ext cx="1723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확인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337450" y="3355848"/>
            <a:ext cx="1723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지원팀이 결번 여부 확인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499397" y="2185416"/>
            <a:ext cx="2235098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755429" y="2441448"/>
            <a:ext cx="475488" cy="475488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3811" y="2569830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755429" y="3026664"/>
            <a:ext cx="1723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환급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755429" y="3355848"/>
            <a:ext cx="17230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금액 전액 예치금 환급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663440" y="4014216"/>
            <a:ext cx="3444088" cy="2249424"/>
          </a:xfrm>
          <a:prstGeom prst="roundRect">
            <a:avLst>
              <a:gd name="adj" fmla="val 6504"/>
            </a:avLst>
          </a:prstGeom>
          <a:solidFill>
            <a:srgbClr val="E8FFE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4983480" y="4288536"/>
            <a:ext cx="280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환급 대상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4983480" y="4654296"/>
            <a:ext cx="2804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</a:t>
            </a:r>
            <a:endParaRPr lang="en-US" sz="2800" dirty="0"/>
          </a:p>
        </p:txBody>
      </p:sp>
      <p:sp>
        <p:nvSpPr>
          <p:cNvPr id="29" name="Text 23"/>
          <p:cNvSpPr txBox="1"/>
          <p:nvPr/>
        </p:nvSpPr>
        <p:spPr>
          <a:xfrm>
            <a:off x="4983480" y="5294376"/>
            <a:ext cx="2804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연락처가 존재하지 않는 번호인 경우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290408" y="4014216"/>
            <a:ext cx="3444088" cy="2249424"/>
          </a:xfrm>
          <a:prstGeom prst="roundRect">
            <a:avLst>
              <a:gd name="adj" fmla="val 6504"/>
            </a:avLst>
          </a:prstGeom>
          <a:solidFill>
            <a:srgbClr val="F2F3F5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610448" y="4288536"/>
            <a:ext cx="2804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환급 대상 아님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610448" y="4654296"/>
            <a:ext cx="2804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부재중 · 통화 후 거절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변심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8610448" y="5522976"/>
            <a:ext cx="2804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번호가 살아 있으면 인정하지 않습니다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광고주 관리 화면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914400"/>
            <a:ext cx="1127729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휴대폰 하나로 받고, 전화하고, 관리합니다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광고주 전용 관리 화면에서 DB 수신부터 상담 기록까지 한 번에</a:t>
            </a:r>
            <a:endParaRPr lang="en-US" sz="1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00400" y="6446520"/>
            <a:ext cx="8534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1600-7628 · 카카오톡 채널 마케팅을다루다 · 디비어때.com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85416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973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2597993"/>
            <a:ext cx="235549" cy="2355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099816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DB 관리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65576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DB를 바로 확인하고 전화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22244" y="2185416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6564" y="245973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821" y="2597993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96564" y="3099816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상태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96564" y="3465576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대기부터 계약취소까지 5단계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87288" y="2185416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1608" y="245973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865" y="2597993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1608" y="3099816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메모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61608" y="3465576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통화 내용·다음 연락 시간 기록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52331" y="2185416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6651" y="2459736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909" y="2597993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651" y="3099816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받기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26651" y="3465576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DB를 한 번에 내려받기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4315968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1520" y="4590288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" y="4728545"/>
            <a:ext cx="235549" cy="235549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31520" y="5230368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 ON/OFF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31520" y="5596128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건수·예치금 잔액 확인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322244" y="4315968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596564" y="4590288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4821" y="4728545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596564" y="5230368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예치금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596564" y="5596128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충전 요청, 차감·환급 내역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187288" y="4315968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61608" y="4590288"/>
            <a:ext cx="512064" cy="512064"/>
          </a:xfrm>
          <a:prstGeom prst="ellipse">
            <a:avLst/>
          </a:prstGeom>
          <a:solidFill>
            <a:srgbClr val="EEF4F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865" y="4728545"/>
            <a:ext cx="235549" cy="235549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461608" y="5230368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불량 처리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461608" y="5596128"/>
            <a:ext cx="21335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결번 신청부터 결과 확인까지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9052331" y="4315968"/>
            <a:ext cx="2682164" cy="1947672"/>
          </a:xfrm>
          <a:prstGeom prst="roundRect">
            <a:avLst>
              <a:gd name="adj" fmla="val 7512"/>
            </a:avLst>
          </a:prstGeom>
          <a:solidFill>
            <a:srgbClr val="181E25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9326651" y="4590288"/>
            <a:ext cx="21335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시작하기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9326651" y="5001768"/>
            <a:ext cx="21335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D7DC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디비어때.com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D7DC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1600-7628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D7DC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D7DCE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마케팅을다루다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E8E9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마케팅을다루다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DB어때 광고주 제안서</dc:title>
  <dc:subject>PptxGenJS Presentation</dc:subject>
  <dc:creator>마케팅을다루다</dc:creator>
  <cp:lastModifiedBy>마케팅을다루다</cp:lastModifiedBy>
  <cp:revision>1</cp:revision>
  <dcterms:created xsi:type="dcterms:W3CDTF">2026-10-26T00:59:14Z</dcterms:created>
  <dcterms:modified xsi:type="dcterms:W3CDTF">2026-10-26T00:59:14Z</dcterms:modified>
</cp:coreProperties>
</file>